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1434162-a7ca-2421-9b24-03e358544541}">
          <p14:sldIdLst>
            <p14:sldId id="256"/>
            <p14:sldId id="257"/>
            <p14:sldId id="258"/>
          </p14:sldIdLst>
        </p14:section>
        <p14:section name="Methods" id="{9be5f5d3-e1f1-7f5f-9e4b-0e88026f78d1}">
          <p14:sldIdLst>
            <p14:sldId id="259"/>
            <p14:sldId id="260"/>
          </p14:sldIdLst>
        </p14:section>
        <p14:section name="Results" id="{cf8e0caa-e756-d49a-3807-5952790a2301}">
          <p14:sldIdLst>
            <p14:sldId id="261"/>
            <p14:sldId id="262"/>
            <p14:sldId id="263"/>
            <p14:sldId id="264"/>
          </p14:sldIdLst>
        </p14:section>
        <p14:section name="Conclusion" id="{8abaeb05-ef38-992a-4eab-372ca705824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9509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figure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68" y="365760"/>
            <a:ext cx="548640" cy="548640"/>
          </a:xfrm>
          <a:prstGeom prst="rect">
            <a:avLst/>
          </a:prstGeom>
        </p:spPr>
      </p:pic>
      <p:pic>
        <p:nvPicPr>
          <p:cNvPr id="4" name="Image 1" descr="..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365760"/>
            <a:ext cx="548640" cy="55321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Designing CNNs for satellite image classification — Emilio Yared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MINI-PRESENTATION  ·  SCIENTIFIC ENGLISH FOR AI</a:t>
            </a:r>
            <a:endParaRPr lang="en-US" sz="1400" dirty="0"/>
          </a:p>
        </p:txBody>
      </p:sp>
      <p:pic>
        <p:nvPicPr>
          <p:cNvPr id="3" name="logo 1" descr="figure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685800"/>
            <a:ext cx="1188720" cy="1188720"/>
          </a:xfrm>
          <a:prstGeom prst="rect">
            <a:avLst/>
          </a:prstGeom>
        </p:spPr>
      </p:pic>
      <p:pic>
        <p:nvPicPr>
          <p:cNvPr id="4" name="logo 2" descr="..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685800"/>
            <a:ext cx="1188720" cy="1197864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CNNs for Satellite Image Classification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703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Hand-design, transfer learning and training-free architecture search on EuroSAT</a:t>
            </a:r>
            <a:endParaRPr lang="en-US" sz="2000" dirty="0"/>
          </a:p>
        </p:txBody>
      </p:sp>
      <p:sp>
        <p:nvSpPr>
          <p:cNvPr id="7" name="author"/>
          <p:cNvSpPr txBox="1"/>
          <p:nvPr/>
        </p:nvSpPr>
        <p:spPr>
          <a:xfrm>
            <a:off x="731520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Emilio Yared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Master 2 Artificial Intelligence and Data Engineering  ·  Presented to Dr. Zeinab Abbas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the presentation</a:t>
            </a:r>
            <a:endParaRPr lang="en-US" sz="2800" dirty="0"/>
          </a:p>
        </p:txBody>
      </p:sp>
      <p:sp>
        <p:nvSpPr>
          <p:cNvPr id="3" name="section Introduction"/>
          <p:cNvSpPr txBox="1"/>
          <p:nvPr/>
        </p:nvSpPr>
        <p:spPr>
          <a:xfrm>
            <a:off x="548640" y="1188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rule Introduction"/>
          <p:cNvSpPr/>
          <p:nvPr/>
        </p:nvSpPr>
        <p:spPr>
          <a:xfrm>
            <a:off x="548640" y="1572768"/>
            <a:ext cx="148132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section Methods"/>
          <p:cNvSpPr txBox="1"/>
          <p:nvPr/>
        </p:nvSpPr>
        <p:spPr>
          <a:xfrm>
            <a:off x="2470709" y="1188720"/>
            <a:ext cx="3403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800" dirty="0"/>
          </a:p>
        </p:txBody>
      </p:sp>
      <p:sp>
        <p:nvSpPr>
          <p:cNvPr id="6" name="rule Methods"/>
          <p:cNvSpPr/>
          <p:nvPr/>
        </p:nvSpPr>
        <p:spPr>
          <a:xfrm>
            <a:off x="2470709" y="1572768"/>
            <a:ext cx="3403397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section Results"/>
          <p:cNvSpPr txBox="1"/>
          <p:nvPr/>
        </p:nvSpPr>
        <p:spPr>
          <a:xfrm>
            <a:off x="6314846" y="1188720"/>
            <a:ext cx="3403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800" dirty="0"/>
          </a:p>
        </p:txBody>
      </p:sp>
      <p:sp>
        <p:nvSpPr>
          <p:cNvPr id="8" name="rule Results"/>
          <p:cNvSpPr/>
          <p:nvPr/>
        </p:nvSpPr>
        <p:spPr>
          <a:xfrm>
            <a:off x="6314846" y="1572768"/>
            <a:ext cx="3403397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9" name="section Conclusion"/>
          <p:cNvSpPr txBox="1"/>
          <p:nvPr/>
        </p:nvSpPr>
        <p:spPr>
          <a:xfrm>
            <a:off x="10158984" y="1188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0" name="rule Conclusion"/>
          <p:cNvSpPr/>
          <p:nvPr/>
        </p:nvSpPr>
        <p:spPr>
          <a:xfrm>
            <a:off x="10158984" y="1572768"/>
            <a:ext cx="148132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node obj"/>
          <p:cNvSpPr/>
          <p:nvPr/>
        </p:nvSpPr>
        <p:spPr>
          <a:xfrm>
            <a:off x="548640" y="272034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node obj text"/>
          <p:cNvSpPr txBox="1"/>
          <p:nvPr/>
        </p:nvSpPr>
        <p:spPr>
          <a:xfrm>
            <a:off x="603504" y="27203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Objective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slide 3</a:t>
            </a:r>
            <a:endParaRPr lang="en-US" sz="1400" dirty="0"/>
          </a:p>
        </p:txBody>
      </p:sp>
      <p:sp>
        <p:nvSpPr>
          <p:cNvPr id="13" name="node data"/>
          <p:cNvSpPr/>
          <p:nvPr/>
        </p:nvSpPr>
        <p:spPr>
          <a:xfrm>
            <a:off x="2470709" y="272034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node data text"/>
          <p:cNvSpPr txBox="1"/>
          <p:nvPr/>
        </p:nvSpPr>
        <p:spPr>
          <a:xfrm>
            <a:off x="2525573" y="27203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EuroSAT data, three approaches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4</a:t>
            </a:r>
            <a:endParaRPr lang="en-US" sz="1400" dirty="0"/>
          </a:p>
        </p:txBody>
      </p:sp>
      <p:sp>
        <p:nvSpPr>
          <p:cNvPr id="15" name="node hand"/>
          <p:cNvSpPr/>
          <p:nvPr/>
        </p:nvSpPr>
        <p:spPr>
          <a:xfrm>
            <a:off x="4392778" y="162306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node hand text"/>
          <p:cNvSpPr txBox="1"/>
          <p:nvPr/>
        </p:nvSpPr>
        <p:spPr>
          <a:xfrm>
            <a:off x="4447642" y="16230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Hand-design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4</a:t>
            </a:r>
            <a:endParaRPr lang="en-US" sz="1400" dirty="0"/>
          </a:p>
        </p:txBody>
      </p:sp>
      <p:sp>
        <p:nvSpPr>
          <p:cNvPr id="17" name="node trans"/>
          <p:cNvSpPr/>
          <p:nvPr/>
        </p:nvSpPr>
        <p:spPr>
          <a:xfrm>
            <a:off x="4392778" y="272034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node trans text"/>
          <p:cNvSpPr txBox="1"/>
          <p:nvPr/>
        </p:nvSpPr>
        <p:spPr>
          <a:xfrm>
            <a:off x="4447642" y="27203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Transfer learning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4</a:t>
            </a:r>
            <a:endParaRPr lang="en-US" sz="1400" dirty="0"/>
          </a:p>
        </p:txBody>
      </p:sp>
      <p:sp>
        <p:nvSpPr>
          <p:cNvPr id="19" name="node nas"/>
          <p:cNvSpPr/>
          <p:nvPr/>
        </p:nvSpPr>
        <p:spPr>
          <a:xfrm>
            <a:off x="4392778" y="381762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node nas text"/>
          <p:cNvSpPr txBox="1"/>
          <p:nvPr/>
        </p:nvSpPr>
        <p:spPr>
          <a:xfrm>
            <a:off x="4447642" y="38176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Training-free search (NASWOT)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5</a:t>
            </a:r>
            <a:endParaRPr lang="en-US" sz="1400" dirty="0"/>
          </a:p>
        </p:txBody>
      </p:sp>
      <p:sp>
        <p:nvSpPr>
          <p:cNvPr id="21" name="node r1"/>
          <p:cNvSpPr/>
          <p:nvPr/>
        </p:nvSpPr>
        <p:spPr>
          <a:xfrm>
            <a:off x="6314846" y="217170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node r1 text"/>
          <p:cNvSpPr txBox="1"/>
          <p:nvPr/>
        </p:nvSpPr>
        <p:spPr>
          <a:xfrm>
            <a:off x="6369710" y="21717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Hand-design vs transfer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6</a:t>
            </a:r>
            <a:endParaRPr lang="en-US" sz="1400" dirty="0"/>
          </a:p>
        </p:txBody>
      </p:sp>
      <p:sp>
        <p:nvSpPr>
          <p:cNvPr id="23" name="node r2"/>
          <p:cNvSpPr/>
          <p:nvPr/>
        </p:nvSpPr>
        <p:spPr>
          <a:xfrm>
            <a:off x="6314846" y="381762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node r2 text"/>
          <p:cNvSpPr txBox="1"/>
          <p:nvPr/>
        </p:nvSpPr>
        <p:spPr>
          <a:xfrm>
            <a:off x="6369710" y="38176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NASWOT vs 5 strategies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7</a:t>
            </a:r>
            <a:endParaRPr lang="en-US" sz="1400" dirty="0"/>
          </a:p>
        </p:txBody>
      </p:sp>
      <p:sp>
        <p:nvSpPr>
          <p:cNvPr id="25" name="node r3"/>
          <p:cNvSpPr/>
          <p:nvPr/>
        </p:nvSpPr>
        <p:spPr>
          <a:xfrm>
            <a:off x="6314846" y="491490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node r3 text"/>
          <p:cNvSpPr txBox="1"/>
          <p:nvPr/>
        </p:nvSpPr>
        <p:spPr>
          <a:xfrm>
            <a:off x="6369710" y="49149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Search on EuroSAT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8</a:t>
            </a:r>
            <a:endParaRPr lang="en-US" sz="1400" dirty="0"/>
          </a:p>
        </p:txBody>
      </p:sp>
      <p:sp>
        <p:nvSpPr>
          <p:cNvPr id="27" name="node fin"/>
          <p:cNvSpPr/>
          <p:nvPr/>
        </p:nvSpPr>
        <p:spPr>
          <a:xfrm>
            <a:off x="8236915" y="272034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node fin text"/>
          <p:cNvSpPr txBox="1"/>
          <p:nvPr/>
        </p:nvSpPr>
        <p:spPr>
          <a:xfrm>
            <a:off x="8291779" y="27203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Final comparison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slide 9</a:t>
            </a:r>
            <a:endParaRPr lang="en-US" sz="1400" dirty="0"/>
          </a:p>
        </p:txBody>
      </p:sp>
      <p:sp>
        <p:nvSpPr>
          <p:cNvPr id="29" name="node concl"/>
          <p:cNvSpPr/>
          <p:nvPr/>
        </p:nvSpPr>
        <p:spPr>
          <a:xfrm>
            <a:off x="10158984" y="272034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node concl text"/>
          <p:cNvSpPr txBox="1"/>
          <p:nvPr/>
        </p:nvSpPr>
        <p:spPr>
          <a:xfrm>
            <a:off x="10213848" y="27203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Conclusion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slide 10</a:t>
            </a:r>
            <a:endParaRPr lang="en-US" sz="1400" dirty="0"/>
          </a:p>
        </p:txBody>
      </p:sp>
      <p:sp>
        <p:nvSpPr>
          <p:cNvPr id="31" name="node q"/>
          <p:cNvSpPr/>
          <p:nvPr/>
        </p:nvSpPr>
        <p:spPr>
          <a:xfrm>
            <a:off x="10158984" y="3817620"/>
            <a:ext cx="1481328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node q text"/>
          <p:cNvSpPr txBox="1"/>
          <p:nvPr/>
        </p:nvSpPr>
        <p:spPr>
          <a:xfrm>
            <a:off x="10213848" y="38176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Questions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slide 11</a:t>
            </a:r>
            <a:endParaRPr lang="en-US" sz="1400" dirty="0"/>
          </a:p>
        </p:txBody>
      </p:sp>
      <p:sp>
        <p:nvSpPr>
          <p:cNvPr id="33" name="edge obj-data"/>
          <p:cNvSpPr/>
          <p:nvPr/>
        </p:nvSpPr>
        <p:spPr>
          <a:xfrm>
            <a:off x="2029968" y="3154680"/>
            <a:ext cx="440741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4" name="edge data-hand"/>
          <p:cNvSpPr/>
          <p:nvPr/>
        </p:nvSpPr>
        <p:spPr>
          <a:xfrm flipV="1">
            <a:off x="3952037" y="2057400"/>
            <a:ext cx="440741" cy="10972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edge data-trans"/>
          <p:cNvSpPr/>
          <p:nvPr/>
        </p:nvSpPr>
        <p:spPr>
          <a:xfrm>
            <a:off x="3952037" y="3154680"/>
            <a:ext cx="440741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6" name="edge data-nas"/>
          <p:cNvSpPr/>
          <p:nvPr/>
        </p:nvSpPr>
        <p:spPr>
          <a:xfrm>
            <a:off x="3952037" y="3154680"/>
            <a:ext cx="440741" cy="10972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7" name="edge hand-r1"/>
          <p:cNvSpPr/>
          <p:nvPr/>
        </p:nvSpPr>
        <p:spPr>
          <a:xfrm>
            <a:off x="5874106" y="2057400"/>
            <a:ext cx="440741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8" name="edge trans-r1"/>
          <p:cNvSpPr/>
          <p:nvPr/>
        </p:nvSpPr>
        <p:spPr>
          <a:xfrm flipV="1">
            <a:off x="5874106" y="2606040"/>
            <a:ext cx="440741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9" name="edge nas-r2"/>
          <p:cNvSpPr/>
          <p:nvPr/>
        </p:nvSpPr>
        <p:spPr>
          <a:xfrm>
            <a:off x="5874106" y="4251960"/>
            <a:ext cx="440741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0" name="edge r2-r3"/>
          <p:cNvSpPr/>
          <p:nvPr/>
        </p:nvSpPr>
        <p:spPr>
          <a:xfrm>
            <a:off x="7055510" y="4686300"/>
            <a:ext cx="0" cy="2286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1" name="edge r1-fin"/>
          <p:cNvSpPr/>
          <p:nvPr/>
        </p:nvSpPr>
        <p:spPr>
          <a:xfrm>
            <a:off x="7796174" y="2606040"/>
            <a:ext cx="440741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2" name="edge r3-fin"/>
          <p:cNvSpPr/>
          <p:nvPr/>
        </p:nvSpPr>
        <p:spPr>
          <a:xfrm flipV="1">
            <a:off x="7796174" y="3154680"/>
            <a:ext cx="440741" cy="21945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3" name="edge fin-concl"/>
          <p:cNvSpPr/>
          <p:nvPr/>
        </p:nvSpPr>
        <p:spPr>
          <a:xfrm>
            <a:off x="9718243" y="3154680"/>
            <a:ext cx="440741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4" name="edge concl-q"/>
          <p:cNvSpPr/>
          <p:nvPr/>
        </p:nvSpPr>
        <p:spPr>
          <a:xfrm>
            <a:off x="10899648" y="3589020"/>
            <a:ext cx="0" cy="2286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5" name="outline caption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Each box is one part of the talk; an arrow shows which earlier part it builds 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stat1"/>
          <p:cNvSpPr/>
          <p:nvPr/>
        </p:nvSpPr>
        <p:spPr>
          <a:xfrm>
            <a:off x="548640" y="132588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stat1 text"/>
          <p:cNvSpPr txBox="1"/>
          <p:nvPr/>
        </p:nvSpPr>
        <p:spPr>
          <a:xfrm>
            <a:off x="548640" y="1435608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27,000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satellite images, 10 land-use classes (EuroSAT)</a:t>
            </a:r>
            <a:endParaRPr lang="en-US" sz="3600" dirty="0"/>
          </a:p>
        </p:txBody>
      </p:sp>
      <p:sp>
        <p:nvSpPr>
          <p:cNvPr id="5" name="stat2"/>
          <p:cNvSpPr/>
          <p:nvPr/>
        </p:nvSpPr>
        <p:spPr>
          <a:xfrm>
            <a:off x="548640" y="342900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6" name="stat2 text"/>
          <p:cNvSpPr txBox="1"/>
          <p:nvPr/>
        </p:nvSpPr>
        <p:spPr>
          <a:xfrm>
            <a:off x="548640" y="3538728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GPUs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28 days: cost of the first automatic search (Zoph &amp; Le, 2017)</a:t>
            </a:r>
            <a:endParaRPr lang="en-US" sz="3600" dirty="0"/>
          </a:p>
        </p:txBody>
      </p:sp>
      <p:sp>
        <p:nvSpPr>
          <p:cNvPr id="7" name="problem head"/>
          <p:cNvSpPr txBox="1"/>
          <p:nvPr/>
        </p:nvSpPr>
        <p:spPr>
          <a:xfrm>
            <a:off x="4572000" y="13258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572000" y="17830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Designing a neural network by hand is slow: every new idea requires a complete training run.</a:t>
            </a:r>
            <a:endParaRPr lang="en-US" sz="1800" dirty="0"/>
          </a:p>
        </p:txBody>
      </p:sp>
      <p:sp>
        <p:nvSpPr>
          <p:cNvPr id="9" name="objective head"/>
          <p:cNvSpPr txBox="1"/>
          <p:nvPr/>
        </p:nvSpPr>
        <p:spPr>
          <a:xfrm>
            <a:off x="4572000" y="27889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Objective: compare three ways of building a classifier</a:t>
            </a:r>
            <a:endParaRPr lang="en-US" sz="2200" dirty="0"/>
          </a:p>
        </p:txBody>
      </p:sp>
      <p:sp>
        <p:nvSpPr>
          <p:cNvPr id="10" name="objectives"/>
          <p:cNvSpPr txBox="1"/>
          <p:nvPr/>
        </p:nvSpPr>
        <p:spPr>
          <a:xfrm>
            <a:off x="4572000" y="3337560"/>
            <a:ext cx="70408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just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</a:rPr>
              <a:t>Design a CNN by hand, step by step</a:t>
            </a:r>
            <a:endParaRPr lang="en-US" sz="1900" dirty="0"/>
          </a:p>
          <a:p>
            <a:pPr algn="just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</a:rPr>
              <a:t>Reuse a network pretrained on ImageNet</a:t>
            </a:r>
            <a:endParaRPr lang="en-US" sz="1900" dirty="0"/>
          </a:p>
          <a:p>
            <a:pPr algn="just" marL="342900" indent="-342900"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</a:rPr>
              <a:t>Search the architecture automatically, without training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data and three approaches</a:t>
            </a:r>
            <a:endParaRPr lang="en-US" sz="2800" dirty="0"/>
          </a:p>
        </p:txBody>
      </p:sp>
      <p:pic>
        <p:nvPicPr>
          <p:cNvPr id="3" name="classes" descr="figures/gif_classe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91672" cy="1255146"/>
          </a:xfrm>
          <a:prstGeom prst="rect">
            <a:avLst/>
          </a:prstGeom>
        </p:spPr>
      </p:pic>
      <p:sp>
        <p:nvSpPr>
          <p:cNvPr id="4" name="split"/>
          <p:cNvSpPr txBox="1"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Same split for all models: 18,900 training · 4,050 validation · 4,050 test images</a:t>
            </a:r>
            <a:endParaRPr lang="en-US" sz="1600" dirty="0"/>
          </a:p>
        </p:txBody>
      </p:sp>
      <p:sp>
        <p:nvSpPr>
          <p:cNvPr id="5" name="approach1 num"/>
          <p:cNvSpPr txBox="1"/>
          <p:nvPr/>
        </p:nvSpPr>
        <p:spPr>
          <a:xfrm>
            <a:off x="548640" y="3291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approach1 rule"/>
          <p:cNvSpPr/>
          <p:nvPr/>
        </p:nvSpPr>
        <p:spPr>
          <a:xfrm>
            <a:off x="548640" y="413308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7" name="approach1 text"/>
          <p:cNvSpPr txBox="1"/>
          <p:nvPr/>
        </p:nvSpPr>
        <p:spPr>
          <a:xfrm>
            <a:off x="548640" y="42976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Hand-design</a:t>
            </a:r>
            <a:endParaRPr lang="en-US" sz="2200" dirty="0"/>
          </a:p>
          <a:p>
            <a:pPr algn="just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Baseline CNN improved one factor at a time: depth, kernels, optimiser, augmentation</a:t>
            </a:r>
            <a:endParaRPr lang="en-US" sz="2200" dirty="0"/>
          </a:p>
        </p:txBody>
      </p:sp>
      <p:sp>
        <p:nvSpPr>
          <p:cNvPr id="8" name="approach divider1"/>
          <p:cNvSpPr/>
          <p:nvPr/>
        </p:nvSpPr>
        <p:spPr>
          <a:xfrm>
            <a:off x="4178808" y="3383280"/>
            <a:ext cx="0" cy="265176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9" name="approach2 num"/>
          <p:cNvSpPr txBox="1"/>
          <p:nvPr/>
        </p:nvSpPr>
        <p:spPr>
          <a:xfrm>
            <a:off x="4379976" y="3291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approach2 rule"/>
          <p:cNvSpPr/>
          <p:nvPr/>
        </p:nvSpPr>
        <p:spPr>
          <a:xfrm>
            <a:off x="4379976" y="413308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1" name="approach2 text"/>
          <p:cNvSpPr txBox="1"/>
          <p:nvPr/>
        </p:nvSpPr>
        <p:spPr>
          <a:xfrm>
            <a:off x="4379976" y="42976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2200" dirty="0"/>
          </a:p>
          <a:p>
            <a:pPr algn="just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ResNet-18 pretrained on ImageNet, fine-tuned with 5% to 100% of the data</a:t>
            </a:r>
            <a:endParaRPr lang="en-US" sz="2200" dirty="0"/>
          </a:p>
        </p:txBody>
      </p:sp>
      <p:sp>
        <p:nvSpPr>
          <p:cNvPr id="12" name="approach divider2"/>
          <p:cNvSpPr/>
          <p:nvPr/>
        </p:nvSpPr>
        <p:spPr>
          <a:xfrm>
            <a:off x="8010144" y="3383280"/>
            <a:ext cx="0" cy="265176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13" name="approach3 num"/>
          <p:cNvSpPr txBox="1"/>
          <p:nvPr/>
        </p:nvSpPr>
        <p:spPr>
          <a:xfrm>
            <a:off x="8211312" y="3291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approach3 rule"/>
          <p:cNvSpPr/>
          <p:nvPr/>
        </p:nvSpPr>
        <p:spPr>
          <a:xfrm>
            <a:off x="8211312" y="413308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5" name="approach3 text"/>
          <p:cNvSpPr txBox="1"/>
          <p:nvPr/>
        </p:nvSpPr>
        <p:spPr>
          <a:xfrm>
            <a:off x="8211312" y="42976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Training-free search</a:t>
            </a:r>
            <a:endParaRPr lang="en-US" sz="2200" dirty="0"/>
          </a:p>
          <a:p>
            <a:pPr algn="just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NASWOT scores 1,000 untrained networks in seconds; only the best one is trained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how can a network be judged without training?</a:t>
            </a:r>
            <a:endParaRPr lang="en-US" sz="2800" dirty="0"/>
          </a:p>
        </p:txBody>
      </p:sp>
      <p:sp>
        <p:nvSpPr>
          <p:cNvPr id="3" name="step1 num"/>
          <p:cNvSpPr txBox="1"/>
          <p:nvPr/>
        </p:nvSpPr>
        <p:spPr>
          <a:xfrm>
            <a:off x="548640" y="126187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step1 text"/>
          <p:cNvSpPr txBox="1"/>
          <p:nvPr/>
        </p:nvSpPr>
        <p:spPr>
          <a:xfrm>
            <a:off x="1280160" y="129844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Take an untrained network</a:t>
            </a:r>
            <a:endParaRPr lang="en-US" sz="1800" dirty="0"/>
          </a:p>
          <a:p>
            <a:pPr algn="just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and pass one batch of 128 images through it</a:t>
            </a:r>
            <a:endParaRPr lang="en-US" sz="1800" dirty="0"/>
          </a:p>
        </p:txBody>
      </p:sp>
      <p:sp>
        <p:nvSpPr>
          <p:cNvPr id="5" name="step2 num"/>
          <p:cNvSpPr txBox="1"/>
          <p:nvPr/>
        </p:nvSpPr>
        <p:spPr>
          <a:xfrm>
            <a:off x="548640" y="249631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step2 text"/>
          <p:cNvSpPr txBox="1"/>
          <p:nvPr/>
        </p:nvSpPr>
        <p:spPr>
          <a:xfrm>
            <a:off x="1280160" y="253288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Record which ReLU units are active</a:t>
            </a:r>
            <a:endParaRPr lang="en-US" sz="1800" dirty="0"/>
          </a:p>
          <a:p>
            <a:pPr algn="just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this gives a binary code for every image</a:t>
            </a:r>
            <a:endParaRPr lang="en-US" sz="1800" dirty="0"/>
          </a:p>
        </p:txBody>
      </p:sp>
      <p:sp>
        <p:nvSpPr>
          <p:cNvPr id="7" name="step3 num"/>
          <p:cNvSpPr txBox="1"/>
          <p:nvPr/>
        </p:nvSpPr>
        <p:spPr>
          <a:xfrm>
            <a:off x="548640" y="37307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tep3 text"/>
          <p:cNvSpPr txBox="1"/>
          <p:nvPr/>
        </p:nvSpPr>
        <p:spPr>
          <a:xfrm>
            <a:off x="1280160" y="37673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Compare the codes of all images</a:t>
            </a:r>
            <a:endParaRPr lang="en-US" sz="1800" dirty="0"/>
          </a:p>
          <a:p>
            <a:pPr algn="just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different codes = the network can separate the images</a:t>
            </a:r>
            <a:endParaRPr lang="en-US" sz="1800" dirty="0"/>
          </a:p>
        </p:txBody>
      </p:sp>
      <p:sp>
        <p:nvSpPr>
          <p:cNvPr id="9" name="formula top"/>
          <p:cNvSpPr/>
          <p:nvPr/>
        </p:nvSpPr>
        <p:spPr>
          <a:xfrm>
            <a:off x="548640" y="5074920"/>
            <a:ext cx="5852160" cy="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10" name="formula bottom"/>
          <p:cNvSpPr/>
          <p:nvPr/>
        </p:nvSpPr>
        <p:spPr>
          <a:xfrm>
            <a:off x="548640" y="6172200"/>
            <a:ext cx="5852160" cy="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11" name="formula text"/>
          <p:cNvSpPr txBox="1"/>
          <p:nvPr/>
        </p:nvSpPr>
        <p:spPr>
          <a:xfrm>
            <a:off x="548640" y="5074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s = log |K_H|</a:t>
            </a:r>
            <a:endParaRPr lang="en-US" sz="2600" dirty="0"/>
          </a:p>
        </p:txBody>
      </p:sp>
      <p:pic>
        <p:nvPicPr>
          <p:cNvPr id="12" name="naswot gif" descr="figures/gif_naswo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4873752" cy="2680564"/>
          </a:xfrm>
          <a:prstGeom prst="rect">
            <a:avLst/>
          </a:prstGeom>
        </p:spPr>
      </p:pic>
      <p:sp>
        <p:nvSpPr>
          <p:cNvPr id="13" name="benchmark"/>
          <p:cNvSpPr txBox="1"/>
          <p:nvPr/>
        </p:nvSpPr>
        <p:spPr>
          <a:xfrm>
            <a:off x="6766560" y="4160520"/>
            <a:ext cx="4873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Validated first on NAS-Bench-201</a:t>
            </a:r>
            <a:endParaRPr lang="en-US" sz="1800" dirty="0"/>
          </a:p>
          <a:p>
            <a:pPr algn="just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15,625 networks whose trained accuracy is already known, which allows a fair comparison with 5 other search strategies.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hand-design and transfer learning</a:t>
            </a:r>
            <a:endParaRPr lang="en-US" sz="2800" dirty="0"/>
          </a:p>
        </p:txBody>
      </p:sp>
      <p:pic>
        <p:nvPicPr>
          <p:cNvPr id="3" name="transfer fig" descr="../Report/figures_slides/nb5_trans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6583680" cy="3977640"/>
          </a:xfrm>
          <a:prstGeom prst="rect">
            <a:avLst/>
          </a:prstGeom>
        </p:spPr>
      </p:pic>
      <p:sp>
        <p:nvSpPr>
          <p:cNvPr id="4" name="transfer caption"/>
          <p:cNvSpPr txBox="1"/>
          <p:nvPr/>
        </p:nvSpPr>
        <p:spPr>
          <a:xfrm>
            <a:off x="548640" y="52120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Test accuracy versus amount of training data</a:t>
            </a:r>
            <a:endParaRPr lang="en-US" sz="1300" dirty="0"/>
          </a:p>
        </p:txBody>
      </p:sp>
      <p:sp>
        <p:nvSpPr>
          <p:cNvPr id="5" name="statA"/>
          <p:cNvSpPr/>
          <p:nvPr/>
        </p:nvSpPr>
        <p:spPr>
          <a:xfrm>
            <a:off x="7452360" y="118872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6" name="statA text"/>
          <p:cNvSpPr txBox="1"/>
          <p:nvPr/>
        </p:nvSpPr>
        <p:spPr>
          <a:xfrm>
            <a:off x="7452360" y="1298448"/>
            <a:ext cx="4187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90.2% → 97.0%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hand-designed CNN after the step-by-step study</a:t>
            </a:r>
            <a:endParaRPr lang="en-US" sz="3600" dirty="0"/>
          </a:p>
        </p:txBody>
      </p:sp>
      <p:sp>
        <p:nvSpPr>
          <p:cNvPr id="7" name="statB"/>
          <p:cNvSpPr/>
          <p:nvPr/>
        </p:nvSpPr>
        <p:spPr>
          <a:xfrm>
            <a:off x="7452360" y="288036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8" name="statB text"/>
          <p:cNvSpPr txBox="1"/>
          <p:nvPr/>
        </p:nvSpPr>
        <p:spPr>
          <a:xfrm>
            <a:off x="7452360" y="2990088"/>
            <a:ext cx="4187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99.0%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ResNet-18 fully fine-tuned: the most accurate model</a:t>
            </a:r>
            <a:endParaRPr lang="en-US" sz="3600" dirty="0"/>
          </a:p>
        </p:txBody>
      </p:sp>
      <p:sp>
        <p:nvSpPr>
          <p:cNvPr id="9" name="statC"/>
          <p:cNvSpPr/>
          <p:nvPr/>
        </p:nvSpPr>
        <p:spPr>
          <a:xfrm>
            <a:off x="7452360" y="457200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0" name="statC text"/>
          <p:cNvSpPr txBox="1"/>
          <p:nvPr/>
        </p:nvSpPr>
        <p:spPr>
          <a:xfrm>
            <a:off x="7452360" y="4681728"/>
            <a:ext cx="41879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ResNet-18 with only 5% of the data (947 images)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NASWOT compared with five search strategies</a:t>
            </a:r>
            <a:endParaRPr lang="en-US" sz="2800" dirty="0"/>
          </a:p>
        </p:txBody>
      </p:sp>
      <p:pic>
        <p:nvPicPr>
          <p:cNvPr id="3" name="anytime" descr="figures/gif_anytim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015232"/>
          </a:xfrm>
          <a:prstGeom prst="rect">
            <a:avLst/>
          </a:prstGeom>
        </p:spPr>
      </p:pic>
      <p:sp>
        <p:nvSpPr>
          <p:cNvPr id="4" name="anytime caption"/>
          <p:cNvSpPr txBox="1"/>
          <p:nvPr/>
        </p:nvSpPr>
        <p:spPr>
          <a:xfrm>
            <a:off x="548640" y="5394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200 runs per strategy on NAS-Bench-201 (CIFAR-10)</a:t>
            </a:r>
            <a:endParaRPr lang="en-US" sz="1300" dirty="0"/>
          </a:p>
        </p:txBody>
      </p:sp>
      <p:sp>
        <p:nvSpPr>
          <p:cNvPr id="5" name="nas points"/>
          <p:cNvSpPr txBox="1"/>
          <p:nvPr/>
        </p:nvSpPr>
        <p:spPr>
          <a:xfrm>
            <a:off x="7772400" y="1280160"/>
            <a:ext cx="3867912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Published NASWOT results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reproduced within 0.1 point</a:t>
            </a:r>
            <a:endParaRPr lang="en-US" sz="1700" dirty="0"/>
          </a:p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NASWOT without training: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92.9%</a:t>
            </a:r>
            <a:pPr algn="just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as good as training 10 random networks</a:t>
            </a:r>
            <a:endParaRPr lang="en-US" sz="1700" dirty="0"/>
          </a:p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Evolution with 100 trained networks: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94.1%</a:t>
            </a:r>
            <a:pPr algn="just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better but far more expensive</a:t>
            </a:r>
            <a:endParaRPr lang="en-US" sz="1700" dirty="0"/>
          </a:p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NASWOT + evolution is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best with small budgets</a:t>
            </a:r>
            <a:pPr algn="just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: 93.5% vs 93.0% after 10 networks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automatic search on EuroSAT</a:t>
            </a:r>
            <a:endParaRPr lang="en-US" sz="2800" dirty="0"/>
          </a:p>
        </p:txBody>
      </p:sp>
      <p:graphicFrame>
        <p:nvGraphicFramePr>
          <p:cNvPr id="9" name="eurosa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Criterion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Hand-designed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NASWOT winner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Test accuracy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96.72%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97.43%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1.24 M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1.99 M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Latency per image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0.76 ms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1.31 ms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GPU time for the design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203 min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17 min</a:t>
                      </a:r>
                      <a:endParaRPr lang="en-US" sz="17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pace"/>
          <p:cNvSpPr txBox="1"/>
          <p:nvPr/>
        </p:nvSpPr>
        <p:spPr>
          <a:xfrm>
            <a:off x="548640" y="4114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Search space: 8,640 CNNs · 1,000 networks scored in 153 s · only the top 3 trained</a:t>
            </a:r>
            <a:endParaRPr lang="en-US" sz="1600" dirty="0"/>
          </a:p>
        </p:txBody>
      </p:sp>
      <p:sp>
        <p:nvSpPr>
          <p:cNvPr id="5" name="rediscover"/>
          <p:cNvSpPr txBox="1"/>
          <p:nvPr/>
        </p:nvSpPr>
        <p:spPr>
          <a:xfrm>
            <a:off x="5486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search rediscovered our manual conclusions (deep network, small kernels, batch normalisation) and added residual connections.</a:t>
            </a:r>
            <a:endParaRPr lang="en-US" sz="1700" dirty="0"/>
          </a:p>
        </p:txBody>
      </p:sp>
      <p:sp>
        <p:nvSpPr>
          <p:cNvPr id="6" name="statD"/>
          <p:cNvSpPr/>
          <p:nvPr/>
        </p:nvSpPr>
        <p:spPr>
          <a:xfrm>
            <a:off x="7498080" y="137160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7" name="statD text"/>
          <p:cNvSpPr txBox="1"/>
          <p:nvPr/>
        </p:nvSpPr>
        <p:spPr>
          <a:xfrm>
            <a:off x="7498080" y="1481328"/>
            <a:ext cx="41422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+0.7 pt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more accurate than our own design</a:t>
            </a:r>
            <a:endParaRPr lang="en-US" sz="3600" dirty="0"/>
          </a:p>
        </p:txBody>
      </p:sp>
      <p:sp>
        <p:nvSpPr>
          <p:cNvPr id="8" name="statE"/>
          <p:cNvSpPr/>
          <p:nvPr/>
        </p:nvSpPr>
        <p:spPr>
          <a:xfrm>
            <a:off x="7498080" y="374904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9" name="statE text"/>
          <p:cNvSpPr txBox="1"/>
          <p:nvPr/>
        </p:nvSpPr>
        <p:spPr>
          <a:xfrm>
            <a:off x="7498080" y="3858768"/>
            <a:ext cx="41422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12× less</a:t>
            </a:r>
            <a:endParaRPr lang="en-US" sz="3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GPU time than manual design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no single model is best on every criterion</a:t>
            </a:r>
            <a:endParaRPr lang="en-US" sz="2800" dirty="0"/>
          </a:p>
        </p:txBody>
      </p:sp>
      <p:pic>
        <p:nvPicPr>
          <p:cNvPr id="3" name="pareto" descr="../Report/figures_slides/nb7_pare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309360" cy="4800600"/>
          </a:xfrm>
          <a:prstGeom prst="rect">
            <a:avLst/>
          </a:prstGeom>
        </p:spPr>
      </p:pic>
      <p:graphicFrame>
        <p:nvGraphicFramePr>
          <p:cNvPr id="10" name="fina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16736"/>
                <a:gridCol w="13167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Size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Baseline CNN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90.15%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2.19 M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Hand-designed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97.04%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1.24 M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NASWOT winner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97.43%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1.99 M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ResNet-18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99.04%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11.18 M</a:t>
                      </a:r>
                      <a:endParaRPr lang="en-US" sz="16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36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inal points"/>
          <p:cNvSpPr txBox="1"/>
          <p:nvPr/>
        </p:nvSpPr>
        <p:spPr>
          <a:xfrm>
            <a:off x="7178040" y="3977640"/>
            <a:ext cx="4462272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ResNet-18 is the most accurate, but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9× larger</a:t>
            </a:r>
            <a:endParaRPr lang="en-US" sz="1700" dirty="0"/>
          </a:p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CNNs from scratch are the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fastest</a:t>
            </a:r>
            <a:endParaRPr lang="en-US" sz="1700" dirty="0"/>
          </a:p>
          <a:p>
            <a:pPr algn="just"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All 50 models tested on the </a:t>
            </a:r>
            <a:pPr algn="just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same 4,050 images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concl1 num"/>
          <p:cNvSpPr txBox="1"/>
          <p:nvPr/>
        </p:nvSpPr>
        <p:spPr>
          <a:xfrm>
            <a:off x="548640" y="12801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concl1 rule"/>
          <p:cNvSpPr/>
          <p:nvPr/>
        </p:nvSpPr>
        <p:spPr>
          <a:xfrm>
            <a:off x="548640" y="212140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concl1 text"/>
          <p:cNvSpPr txBox="1"/>
          <p:nvPr/>
        </p:nvSpPr>
        <p:spPr>
          <a:xfrm>
            <a:off x="548640" y="228600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2400" dirty="0"/>
          </a:p>
          <a:p>
            <a:pPr algn="just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Gives the highest accuracy (99.0%) and works even with very little data.</a:t>
            </a:r>
            <a:endParaRPr lang="en-US" sz="2400" dirty="0"/>
          </a:p>
        </p:txBody>
      </p:sp>
      <p:sp>
        <p:nvSpPr>
          <p:cNvPr id="6" name="concl divider1"/>
          <p:cNvSpPr/>
          <p:nvPr/>
        </p:nvSpPr>
        <p:spPr>
          <a:xfrm>
            <a:off x="4178808" y="1371600"/>
            <a:ext cx="0" cy="320040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7" name="concl2 num"/>
          <p:cNvSpPr txBox="1"/>
          <p:nvPr/>
        </p:nvSpPr>
        <p:spPr>
          <a:xfrm>
            <a:off x="4379976" y="12801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concl2 rule"/>
          <p:cNvSpPr/>
          <p:nvPr/>
        </p:nvSpPr>
        <p:spPr>
          <a:xfrm>
            <a:off x="4379976" y="212140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9" name="concl2 text"/>
          <p:cNvSpPr txBox="1"/>
          <p:nvPr/>
        </p:nvSpPr>
        <p:spPr>
          <a:xfrm>
            <a:off x="4379976" y="228600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Training-free search</a:t>
            </a:r>
            <a:endParaRPr lang="en-US" sz="2400" dirty="0"/>
          </a:p>
          <a:p>
            <a:pPr algn="just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Found a better CNN than our manual design, with 12 times less GPU time.</a:t>
            </a:r>
            <a:endParaRPr lang="en-US" sz="2400" dirty="0"/>
          </a:p>
        </p:txBody>
      </p:sp>
      <p:sp>
        <p:nvSpPr>
          <p:cNvPr id="10" name="concl divider2"/>
          <p:cNvSpPr/>
          <p:nvPr/>
        </p:nvSpPr>
        <p:spPr>
          <a:xfrm>
            <a:off x="8010144" y="1371600"/>
            <a:ext cx="0" cy="320040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11" name="concl3 num"/>
          <p:cNvSpPr txBox="1"/>
          <p:nvPr/>
        </p:nvSpPr>
        <p:spPr>
          <a:xfrm>
            <a:off x="8211312" y="12801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concl3 rule"/>
          <p:cNvSpPr/>
          <p:nvPr/>
        </p:nvSpPr>
        <p:spPr>
          <a:xfrm>
            <a:off x="8211312" y="2121408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3" name="concl3 text"/>
          <p:cNvSpPr txBox="1"/>
          <p:nvPr/>
        </p:nvSpPr>
        <p:spPr>
          <a:xfrm>
            <a:off x="8211312" y="228600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 filter</a:t>
            </a:r>
            <a:endParaRPr lang="en-US" sz="2400" dirty="0"/>
          </a:p>
          <a:p>
            <a:pPr algn="just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NASWOT does not replace training: combined with evolution, it gives the best results.</a:t>
            </a:r>
            <a:endParaRPr lang="en-US" sz="2400" dirty="0"/>
          </a:p>
        </p:txBody>
      </p:sp>
      <p:sp>
        <p:nvSpPr>
          <p:cNvPr id="14" name="future rule"/>
          <p:cNvSpPr/>
          <p:nvPr/>
        </p:nvSpPr>
        <p:spPr>
          <a:xfrm>
            <a:off x="548640" y="4846320"/>
            <a:ext cx="11091672" cy="0"/>
          </a:xfrm>
          <a:prstGeom prst="line">
            <a:avLst/>
          </a:prstGeom>
          <a:noFill/>
          <a:ln w="9525">
            <a:solidFill>
              <a:srgbClr val="C9D6CE"/>
            </a:solidFill>
            <a:prstDash val="solid"/>
          </a:ln>
        </p:spPr>
      </p:sp>
      <p:sp>
        <p:nvSpPr>
          <p:cNvPr id="15" name="future"/>
          <p:cNvSpPr txBox="1"/>
          <p:nvPr/>
        </p:nvSpPr>
        <p:spPr>
          <a:xfrm>
            <a:off x="548640" y="4983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accent4"/>
                </a:solidFill>
              </a:rPr>
              <a:t>Future work: several random seeds, the 13 spectral bands of EuroSAT, and a latency constraint in the search.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1" descr="figure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685800"/>
            <a:ext cx="1188720" cy="1188720"/>
          </a:xfrm>
          <a:prstGeom prst="rect">
            <a:avLst/>
          </a:prstGeom>
        </p:spPr>
      </p:pic>
      <p:pic>
        <p:nvPicPr>
          <p:cNvPr id="3" name="logo 2" descr="..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685800"/>
            <a:ext cx="1188720" cy="119786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73736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703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Questions are welcome</a:t>
            </a:r>
            <a:endParaRPr lang="en-US" sz="2000" dirty="0"/>
          </a:p>
        </p:txBody>
      </p:sp>
      <p:sp>
        <p:nvSpPr>
          <p:cNvPr id="6" name="author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Emilio Yared  ·  Master 2 Artificial Intelligence and Data Engineering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roSAT English">
  <a:themeElements>
    <a:clrScheme name="EuroSAT English">
      <a:dk1>
        <a:srgbClr val="1F2A24"/>
      </a:dk1>
      <a:lt1>
        <a:srgbClr val="FFFFFF"/>
      </a:lt1>
      <a:dk2>
        <a:srgbClr val="13613F"/>
      </a:dk2>
      <a:lt2>
        <a:srgbClr val="EEF4F0"/>
      </a:lt2>
      <a:accent1>
        <a:srgbClr val="13613F"/>
      </a:accent1>
      <a:accent2>
        <a:srgbClr val="2F6DB5"/>
      </a:accent2>
      <a:accent3>
        <a:srgbClr val="5E8C6A"/>
      </a:accent3>
      <a:accent4>
        <a:srgbClr val="8C9A92"/>
      </a:accent4>
      <a:accent5>
        <a:srgbClr val="C77C02"/>
      </a:accent5>
      <a:accent6>
        <a:srgbClr val="C9A227"/>
      </a:accent6>
      <a:hlink>
        <a:srgbClr val="2F6DB5"/>
      </a:hlink>
      <a:folHlink>
        <a:srgbClr val="5E8C6A"/>
      </a:folHlink>
    </a:clrScheme>
    <a:fontScheme name="EuroSAT Englis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CNNs for Satellite Image Classification</dc:title>
  <dc:subject>PptxGenJS Presentation</dc:subject>
  <dc:creator>Emilio Yared</dc:creator>
  <cp:lastModifiedBy>Emilio Yared</cp:lastModifiedBy>
  <cp:revision>1</cp:revision>
  <dcterms:created xsi:type="dcterms:W3CDTF">2026-10-21T07:46:09Z</dcterms:created>
  <dcterms:modified xsi:type="dcterms:W3CDTF">2026-10-21T07:46:09Z</dcterms:modified>
</cp:coreProperties>
</file>