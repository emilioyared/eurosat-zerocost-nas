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f9caee9-9738-23c5-ebd6-356b43febd96}">
          <p14:sldIdLst>
            <p14:sldId id="256"/>
            <p14:sldId id="257"/>
          </p14:sldIdLst>
        </p14:section>
        <p14:section name="Task 1–2: hand-tuning" id="{917e687b-4db4-7235-acfd-941694432e65}">
          <p14:sldIdLst>
            <p14:sldId id="258"/>
            <p14:sldId id="259"/>
            <p14:sldId id="260"/>
            <p14:sldId id="261"/>
            <p14:sldId id="262"/>
          </p14:sldIdLst>
        </p14:section>
        <p14:section name="Task 3: transfer learning" id="{8949f96e-45d4-2d2d-a9d7-77018acc4326}">
          <p14:sldIdLst>
            <p14:sldId id="263"/>
          </p14:sldIdLst>
        </p14:section>
        <p14:section name="Zero-cost NAS" id="{17dce24d-9dfc-1f4d-34f3-237f8b937dfd}">
          <p14:sldIdLst>
            <p14:sldId id="264"/>
            <p14:sldId id="265"/>
            <p14:sldId id="266"/>
          </p14:sldIdLst>
        </p14:section>
        <p14:section name="Results and conclusion" id="{87842f16-20ad-8b7d-10a1-190c717604be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9692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9692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figur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92608"/>
            <a:ext cx="621792" cy="6272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AIDE500 — EuroSAT: hand-tuning, transfer learning and zero-cost NAS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figur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48640"/>
            <a:ext cx="1280160" cy="12893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Hand-Tuning to Architecture Search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CNN design, transfer learning and zero-cost NAS for satellite land-use classification (EuroSAT)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937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Emilio Yared  ·  Joe Missisian  —  Group 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Master 2 Artificial Intelligence and Data Engineering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AIDE500 — Programming for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dataset</a:t>
            </a:r>
            <a:endParaRPr lang="en-US" sz="3000" dirty="0"/>
          </a:p>
        </p:txBody>
      </p:sp>
      <p:pic>
        <p:nvPicPr>
          <p:cNvPr id="3" name="classes.png" descr="figures_slides/clas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11064240" cy="283464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48640" y="4160520"/>
            <a:ext cx="6035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EuroSAT RGB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27,000 Sentinel-2 tiles, 64×64 px, 10 land-use classes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Fixed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stratified split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70/15/15 (18,900 / 4,050 / 4,050), normalization from the train split only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Classes defined by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texture and color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; several are visually close (crops, vegetation, pasture)</a:t>
            </a:r>
            <a:endParaRPr lang="en-US" sz="1600" dirty="0"/>
          </a:p>
        </p:txBody>
      </p:sp>
      <p:sp>
        <p:nvSpPr>
          <p:cNvPr id="5" name="questions card"/>
          <p:cNvSpPr/>
          <p:nvPr/>
        </p:nvSpPr>
        <p:spPr>
          <a:xfrm>
            <a:off x="6903720" y="4114800"/>
            <a:ext cx="4709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86600" y="4206240"/>
            <a:ext cx="43891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Three questions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How far can a CNN trained from scratch go? (Tasks 1–2)</a:t>
            </a:r>
            <a:endParaRPr lang="en-US" sz="17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What does ImageNet pretraining bring? (Task 3)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Can the manual design be automated cheaply? (zero-cost NAS)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Baseline CNN</a:t>
            </a:r>
            <a:endParaRPr lang="en-US" sz="3000" dirty="0"/>
          </a:p>
        </p:txBody>
      </p:sp>
      <p:pic>
        <p:nvPicPr>
          <p:cNvPr id="3" name="nb1_curves.png" descr="figures_slides/nb1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694944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6766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Train loss keeps falling while the validation loss is minimal at epoch 6: the network </a:t>
            </a:r>
            <a:pPr indent="0" marL="0">
              <a:buNone/>
            </a:pPr>
            <a:r>
              <a:rPr lang="en-US" sz="1300" b="1" i="1" dirty="0">
                <a:solidFill>
                  <a:schemeClr val="accent4"/>
                </a:solidFill>
              </a:rPr>
              <a:t>memorizes</a:t>
            </a:r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 the training set.</a:t>
            </a:r>
            <a:endParaRPr lang="en-US" sz="1300" dirty="0"/>
          </a:p>
        </p:txBody>
      </p:sp>
      <p:sp>
        <p:nvSpPr>
          <p:cNvPr id="5" name="stat test accuracy"/>
          <p:cNvSpPr/>
          <p:nvPr/>
        </p:nvSpPr>
        <p:spPr>
          <a:xfrm>
            <a:off x="7772400" y="1234440"/>
            <a:ext cx="18745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3075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90.15%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8928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8" name="stat generalization gap"/>
          <p:cNvSpPr/>
          <p:nvPr/>
        </p:nvSpPr>
        <p:spPr>
          <a:xfrm>
            <a:off x="9784080" y="1234440"/>
            <a:ext cx="187452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784080" y="13075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 pts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18928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generalization gap</a:t>
            </a:r>
            <a:endParaRPr lang="en-US" sz="1200" dirty="0"/>
          </a:p>
        </p:txBody>
      </p:sp>
      <p:sp>
        <p:nvSpPr>
          <p:cNvPr id="11" name="bullets"/>
          <p:cNvSpPr txBox="1"/>
          <p:nvPr/>
        </p:nvSpPr>
        <p:spPr>
          <a:xfrm>
            <a:off x="7772400" y="2651760"/>
            <a:ext cx="388620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× Conv3×3 → ReLU → MaxPool (32/64/128 ch.), FC 8192 → 256 → 10,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2.19M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params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SGD momentum 0.9, lr 0.01, batch 64, 30 epochs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Main confusions: Highway → River, PermanentCrop → HerbaceousVeg.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2a — Architecture, one factor at a time</a:t>
            </a:r>
            <a:endParaRPr lang="en-US" sz="3000" dirty="0"/>
          </a:p>
        </p:txBody>
      </p:sp>
      <p:pic>
        <p:nvPicPr>
          <p:cNvPr id="3" name="nb2_arch.png" descr="figures_slides/nb2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6949440" cy="438912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7680960" y="1280160"/>
            <a:ext cx="397764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Depth matters most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5 blocks → receptive field 94 px (the whole tile) and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fewer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params (1.24M vs 2.19M)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Large kernels hurt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7×7 → 79.95%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 padding and stride-2 lose information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BatchNorm: +0.8 pt, smoother training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Combined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(5 blocks, 3×3, same padding, max-pool, BN):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94.52% val.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gap halved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2b — Optimizers, learning rates, schedulers</a:t>
            </a:r>
            <a:endParaRPr lang="en-US" sz="3000" dirty="0"/>
          </a:p>
        </p:txBody>
      </p:sp>
      <p:pic>
        <p:nvPicPr>
          <p:cNvPr id="3" name="nb3_optim.png" descr="figures_slides/nb3_opt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694944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49240"/>
            <a:ext cx="6766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Left: peak validation accuracy (%) per optimizer and learning rate. Right: Adam lr 1e-3 with each scheduler.</a:t>
            </a:r>
            <a:endParaRPr lang="en-US" sz="1200" dirty="0"/>
          </a:p>
        </p:txBody>
      </p:sp>
      <p:sp>
        <p:nvSpPr>
          <p:cNvPr id="5" name="bullets"/>
          <p:cNvSpPr txBox="1"/>
          <p:nvPr/>
        </p:nvSpPr>
        <p:spPr>
          <a:xfrm>
            <a:off x="7680960" y="1280160"/>
            <a:ext cx="3977640" cy="4846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 optimizers × 3 learning rates, 25 epochs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lr 1e-3 best for all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; 1e-2 unstable for Adam/AdamW, 1e-4 too slow for SGD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Adam 1e-3: best and fastest (94.15%)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Schedulers add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+1.4–1.7 pts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small steps at the end remove the oscillations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Recipe Adam + StepLR: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96.22% test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2c — Data augmentation</a:t>
            </a:r>
            <a:endParaRPr lang="en-US" sz="3000" dirty="0"/>
          </a:p>
        </p:txBody>
      </p:sp>
      <p:pic>
        <p:nvPicPr>
          <p:cNvPr id="3" name="aug_examples.png" descr="figures_slides/aug_examp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5486400" cy="1371600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48640" y="2788920"/>
            <a:ext cx="53949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"up" in satellite images: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vertical flips and 90° rotations keep the label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Color carries the class → weak color jitter only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MixUp / CutMix written by hand:</a:t>
            </a:r>
            <a:endParaRPr lang="en-US" sz="1600" dirty="0"/>
          </a:p>
        </p:txBody>
      </p:sp>
      <p:sp>
        <p:nvSpPr>
          <p:cNvPr id="5" name="loss code"/>
          <p:cNvSpPr/>
          <p:nvPr/>
        </p:nvSpPr>
        <p:spPr>
          <a:xfrm>
            <a:off x="548640" y="420624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206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lam*CE(out, y_a) + (1-lam)*CE(out, y_b)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83480"/>
            <a:ext cx="5394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Gap measured on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clean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training images: 3.9 → ≈1 pt. Affine creates black corners; CutMix needs longer training.</a:t>
            </a:r>
            <a:endParaRPr lang="en-US" sz="1500" dirty="0"/>
          </a:p>
        </p:txBody>
      </p:sp>
      <p:pic>
        <p:nvPicPr>
          <p:cNvPr id="8" name="nb4_aug.png" descr="figures_slides/nb4_au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143000"/>
            <a:ext cx="5486400" cy="429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09360" y="5577840"/>
            <a:ext cx="5303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Best: flips + crop + MixUp → </a:t>
            </a:r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97.04% test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Comparison table (selection)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3949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325880"/>
                <a:gridCol w="731520"/>
                <a:gridCol w="960120"/>
                <a:gridCol w="100584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Params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Latency (ms)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Peak val. (%)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Gap (pts)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2.19M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0.380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91.11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8.87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blocks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4.22M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86.74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13.21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 blocks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0.635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93.04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6.17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7×7 kernels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2.61M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79.95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15.87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stride-2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2.19M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0.321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84.37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15.43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BatchNorm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2.19M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0.523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91.90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7.68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NB2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combined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0.735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94.52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4.89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280160"/>
          <a:ext cx="53949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325880"/>
                <a:gridCol w="731520"/>
                <a:gridCol w="960120"/>
                <a:gridCol w="100584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NB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Params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Latency (ms)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Peak val. (%)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Gap (pts)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SGD lr 1e-2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0.694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93.28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5.49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Adam lr 1e-3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0.694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94.15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2.47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Adam + StepLR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0.694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95.85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3.31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augmentation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0.694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95.85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3.90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flips + crop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0.694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96.44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1.43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NB4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+ MixUp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0.694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96.52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1.21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NB4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 CutMix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0.694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95.19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Latency: one image on a T4 GPU. Gap: train − validation accuracy at the best epoch (NB4: clean training images). The full table (31 runs) is in the report.</a:t>
            </a:r>
            <a:endParaRPr lang="en-US" sz="1300" dirty="0"/>
          </a:p>
        </p:txBody>
      </p:sp>
      <p:sp>
        <p:nvSpPr>
          <p:cNvPr id="6" name="stat architecture (NB2)"/>
          <p:cNvSpPr/>
          <p:nvPr/>
        </p:nvSpPr>
        <p:spPr>
          <a:xfrm>
            <a:off x="548640" y="502920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1023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90.15 → 95.36%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6875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architecture (NB2)</a:t>
            </a:r>
            <a:endParaRPr lang="en-US" sz="1200" dirty="0"/>
          </a:p>
        </p:txBody>
      </p:sp>
      <p:sp>
        <p:nvSpPr>
          <p:cNvPr id="9" name="stat + Adam &amp; StepLR (NB3)"/>
          <p:cNvSpPr/>
          <p:nvPr/>
        </p:nvSpPr>
        <p:spPr>
          <a:xfrm>
            <a:off x="4343400" y="502920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343400" y="51023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96.22%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56875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Adam &amp; StepLR (NB3)</a:t>
            </a:r>
            <a:endParaRPr lang="en-US" sz="1200" dirty="0"/>
          </a:p>
        </p:txBody>
      </p:sp>
      <p:sp>
        <p:nvSpPr>
          <p:cNvPr id="12" name="stat + augmentation &amp; MixUp (NB4)"/>
          <p:cNvSpPr/>
          <p:nvPr/>
        </p:nvSpPr>
        <p:spPr>
          <a:xfrm>
            <a:off x="8138160" y="502920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38160" y="510235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97.04%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56875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 augmentation &amp; MixUp (NB4)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Transfer learning with ResNet-18</a:t>
            </a:r>
            <a:endParaRPr lang="en-US" sz="3000" dirty="0"/>
          </a:p>
        </p:txBody>
      </p:sp>
      <p:pic>
        <p:nvPicPr>
          <p:cNvPr id="3" name="nb5_transfer.png" descr="figures_slides/nb5_transf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6583680" cy="36118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800600"/>
          <a:ext cx="60350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 acc. (%)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Scratch CNN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87.85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91.88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94.91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96.64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ResNet frozen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87.51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88.59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89.80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90.44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ResNet layer4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95.11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95.73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96.89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97.90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ResNet full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95.95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96.86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97.80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99.04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7315200" y="1234440"/>
            <a:ext cx="434340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ImageNet ResNet-18, images resized to 128×128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Freeze with requires_grad = False; new head Dropout → Linear(512, 10)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lr 1e-4 for pretrained layers, 1e-3 for the head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 fine-tuning: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99.04%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and 95.95% with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5% of the data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(945 images)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Converges in 1 epoch (scratch: 6)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Frozen saturates at ≈90%: unfreezing layer4 recovers most of the gain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Cost: 9× params, 3× latency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Zero-cost NAS — NASWOT (Mellor et al., ICML 2021)</a:t>
            </a:r>
            <a:endParaRPr lang="en-US" sz="30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234440"/>
            <a:ext cx="53949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Judge an architecture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 initialization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on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mini-batch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in ≈0.1 s — no training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Binary code c_i of each image: which ReLUs are active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code = same linear region → the network cannot separate the two images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 score = images well separated → the network trains well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Implemented with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forward hooks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on every nn.ReLU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Compared with SynFlow, SNIP, grad-norm and #params</a:t>
            </a:r>
            <a:endParaRPr lang="en-US" sz="1600" dirty="0"/>
          </a:p>
        </p:txBody>
      </p:sp>
      <p:sp>
        <p:nvSpPr>
          <p:cNvPr id="4" name="formula card"/>
          <p:cNvSpPr/>
          <p:nvPr/>
        </p:nvSpPr>
        <p:spPr>
          <a:xfrm>
            <a:off x="548640" y="3931920"/>
            <a:ext cx="539496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9776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K_H[i, j] = N_A − d_H(c_i, c_j)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 s = log |K_H|</a:t>
            </a:r>
            <a:endParaRPr lang="en-US" sz="2000" dirty="0"/>
          </a:p>
        </p:txBody>
      </p:sp>
      <p:sp>
        <p:nvSpPr>
          <p:cNvPr id="6" name="code card"/>
          <p:cNvSpPr/>
          <p:nvPr/>
        </p:nvSpPr>
        <p:spPr>
          <a:xfrm>
            <a:off x="6263640" y="123444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1F2A24"/>
          </a:solidFill>
          <a:ln w="12700">
            <a:solidFill>
              <a:srgbClr val="1F2A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371600"/>
            <a:ext cx="5074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naswot_score(net, inputs):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inputs.size(0)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torch.zeros(B, B, dtype=torch.float64)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hook(module, inp, out):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(inp[0].view(B, -1) &gt; 0).double()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K.add_(x @ x.t() + (1-x) @ (1-x).t())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 in net.modules():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isinstance(m, nn.ReLU):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m.register_forward_hook(hook)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torch.no_grad():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net(inputs)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torch.linalg.slogdet(K)[1]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5120640"/>
            <a:ext cx="5394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Simplified from NB6.1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Reproducing the paper on NAS-Bench-201</a:t>
            </a:r>
            <a:endParaRPr lang="en-US" sz="3000" dirty="0"/>
          </a:p>
        </p:txBody>
      </p:sp>
      <p:pic>
        <p:nvPicPr>
          <p:cNvPr id="3" name="nb61_scatter.png" descr="figures_slides/nb61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840480" cy="4297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3749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15,625 networks with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known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trained accuracy. Our re-implementation has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exactly the official number of parameters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for 300/300 architectures.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34440"/>
          <a:ext cx="70866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Kendall τ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CIFAR-10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CIFAR-100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ImageNet16-120*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ours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0.602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0.640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0.600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0.574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0.611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0.549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514600"/>
          <a:ext cx="70866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Search, test acc. (%)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CIFAR-10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CIFAR-100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ImageNet16-120*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NASWOT (N=10) — ours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92.39 ± 1.20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68.63 ± 2.31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41.29 ± 3.94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NASWOT (N=10) — paper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92.44 ± 1.13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68.62 ± 2.04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41.31 ± 4.11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NASWOT (N=100) — ours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92.83 ± 0.94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69.52 ± 1.67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43.18 ± 2.95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NASWOT (N=100) — paper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92.81 ± 0.99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69.48 ± 1.70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43.10 ± 3.16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Random — ours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87.04 ± 12.94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61.36 ± 12.17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33.54 ± 9.52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Random — paper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86.61 ± 13.46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60.83 ± 12.58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33.13 ± 9.66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verdict"/>
          <p:cNvSpPr/>
          <p:nvPr/>
        </p:nvSpPr>
        <p:spPr>
          <a:xfrm>
            <a:off x="4572000" y="5166360"/>
            <a:ext cx="7086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4754880" y="5166360"/>
            <a:ext cx="67208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NASWOT search matches Table 2 of the paper within ≈0.1 pt →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our implementation is correct</a:t>
            </a:r>
            <a:endParaRPr lang="en-US" sz="1700" dirty="0"/>
          </a:p>
        </p:txBody>
      </p:sp>
      <p:sp>
        <p:nvSpPr>
          <p:cNvPr id="9" name="Text 4"/>
          <p:cNvSpPr txBox="1"/>
          <p:nvPr/>
        </p:nvSpPr>
        <p:spPr>
          <a:xfrm>
            <a:off x="4572000" y="5989320"/>
            <a:ext cx="7086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* ImageNet16-120 is not on Kaggle: scored with CIFAR-100 images at 16×16.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Zero-cost NAS on EuroSAT</a:t>
            </a:r>
            <a:endParaRPr lang="en-US" sz="30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234440"/>
            <a:ext cx="58521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Search space = the Task 2 knobs: 2–5 blocks, kernel 3/5/7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 block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width 16/32/64, BN, pool/stride, skip →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8,640 CNNs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51 networks trained 5 epochs to check the proxies (Spearman ρ):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60320"/>
          <a:ext cx="5394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05840"/>
                <a:gridCol w="1005840"/>
                <a:gridCol w="91440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NASWOT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SynFlow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SNIP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grad-norm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#params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ρ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-0.13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548640" y="3383280"/>
            <a:ext cx="58521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Search: 1000 networks scored in 153 s, then the top-3 trained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NASWOT top-3: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90.8%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mean (5 epochs) vs random 83.3%, hand-designed 87.7%</a:t>
            </a:r>
            <a:endParaRPr lang="en-US" sz="16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0584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Full recipe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acc.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Latency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Search GPU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Hand-designed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96.72%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0.76 ms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203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NAS winner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97.43%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1.99M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1.31 ms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17 min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7" name="nb62_scatter.png" descr="figures_slides/nb62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143000"/>
            <a:ext cx="4846320" cy="41605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858000" y="5394960"/>
            <a:ext cx="47548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Winner: 5 blocks, kernels 5-3-3-3-3, width 64, BN, max-pool,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residual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→ better than our design with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12× less GPU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comparison — all 50 checkpoints (NB7)</a:t>
            </a:r>
            <a:endParaRPr lang="en-US" sz="3000" dirty="0"/>
          </a:p>
        </p:txBody>
      </p:sp>
      <p:pic>
        <p:nvPicPr>
          <p:cNvPr id="3" name="nb7_pareto.png" descr="figures_slides/nb7_pare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6675120" cy="50292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280160"/>
          <a:ext cx="4297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77240"/>
                <a:gridCol w="685800"/>
                <a:gridCol w="73152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 acc.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Params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Latency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90.15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89.75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2.19M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0.34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Hand-designed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97.04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96.97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1.24M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0.79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NAS winner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97.43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97.36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1.99M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1.26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ResNet-18 FT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99.04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98.99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11.18M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2.23 ms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7360920" y="3429000"/>
            <a:ext cx="42976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checkpoint re-evaluated on the same 4,050 test images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Trade-off: the NAS winner is 1.6× slower than the hand-designed CNN, ResNet-18 3× slower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ResNet-18 is the most accurate, the scratch CNNs the fastest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the models still fail?</a:t>
            </a:r>
            <a:endParaRPr lang="en-US" sz="3000" dirty="0"/>
          </a:p>
        </p:txBody>
      </p:sp>
      <p:pic>
        <p:nvPicPr>
          <p:cNvPr id="3" name="nb7_confusion.png" descr="figures_slides/nb7_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7589520" cy="5120640"/>
          </a:xfrm>
          <a:prstGeom prst="rect">
            <a:avLst/>
          </a:prstGeom>
        </p:spPr>
      </p:pic>
      <p:sp>
        <p:nvSpPr>
          <p:cNvPr id="4" name="stat errors — hand-designed CNN"/>
          <p:cNvSpPr/>
          <p:nvPr/>
        </p:nvSpPr>
        <p:spPr>
          <a:xfrm>
            <a:off x="8366760" y="1234440"/>
            <a:ext cx="32918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66760" y="13075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8928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errors — hand-designed CNN</a:t>
            </a:r>
            <a:endParaRPr lang="en-US" sz="1200" dirty="0"/>
          </a:p>
        </p:txBody>
      </p:sp>
      <p:sp>
        <p:nvSpPr>
          <p:cNvPr id="7" name="stat errors — ResNet-18 fine-tuned"/>
          <p:cNvSpPr/>
          <p:nvPr/>
        </p:nvSpPr>
        <p:spPr>
          <a:xfrm>
            <a:off x="8366760" y="2560320"/>
            <a:ext cx="32918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2633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32186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errors — ResNet-18 fine-tuned</a:t>
            </a:r>
            <a:endParaRPr lang="en-US" sz="1200" dirty="0"/>
          </a:p>
        </p:txBody>
      </p:sp>
      <p:sp>
        <p:nvSpPr>
          <p:cNvPr id="10" name="bullets"/>
          <p:cNvSpPr txBox="1"/>
          <p:nvPr/>
        </p:nvSpPr>
        <p:spPr>
          <a:xfrm>
            <a:off x="8366760" y="3977640"/>
            <a:ext cx="32918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Remaining errors: agricultural classes (PermanentCrop / HerbaceousVeg. / AnnualCrop / Pasture)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ResNet makes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different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mistakes from the scratch CNNs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14 images wrong for all models: mixed land uses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tat hand-tuning a CNN from scratch"/>
          <p:cNvSpPr/>
          <p:nvPr/>
        </p:nvSpPr>
        <p:spPr>
          <a:xfrm>
            <a:off x="548640" y="123444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0759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90.15 → 97.04%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928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hand-tuning a CNN from scratch</a:t>
            </a:r>
            <a:endParaRPr lang="en-US" sz="1200" dirty="0"/>
          </a:p>
        </p:txBody>
      </p:sp>
      <p:sp>
        <p:nvSpPr>
          <p:cNvPr id="6" name="stat fine-tuned ResNet-18 (95.95% with 5% of the data)"/>
          <p:cNvSpPr/>
          <p:nvPr/>
        </p:nvSpPr>
        <p:spPr>
          <a:xfrm>
            <a:off x="4343400" y="123444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130759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99.04%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8928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fine-tuned ResNet-18 (95.95% with 5% of the data)</a:t>
            </a:r>
            <a:endParaRPr lang="en-US" sz="1200" dirty="0"/>
          </a:p>
        </p:txBody>
      </p:sp>
      <p:sp>
        <p:nvSpPr>
          <p:cNvPr id="9" name="stat zero-cost NAS, 17 GPU-min vs 203"/>
          <p:cNvSpPr/>
          <p:nvPr/>
        </p:nvSpPr>
        <p:spPr>
          <a:xfrm>
            <a:off x="8138160" y="1234440"/>
            <a:ext cx="35204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130759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97.43%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9280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zero-cost NAS, 17 GPU-min vs 203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5394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2000" dirty="0"/>
          </a:p>
        </p:txBody>
      </p:sp>
      <p:sp>
        <p:nvSpPr>
          <p:cNvPr id="13" name="bullets"/>
          <p:cNvSpPr txBox="1"/>
          <p:nvPr/>
        </p:nvSpPr>
        <p:spPr>
          <a:xfrm>
            <a:off x="548640" y="3154680"/>
            <a:ext cx="53949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Depth and small kernels, Adam with a decaying lr, orientation-invariant augmentation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Transfer learning is the most accurate and by far the best with little data — at 9× the size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Zero-cost NAS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reproduced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on NAS-Bench-201, then found a CNN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better than ours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697480"/>
            <a:ext cx="53949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5" name="bullets"/>
          <p:cNvSpPr txBox="1"/>
          <p:nvPr/>
        </p:nvSpPr>
        <p:spPr>
          <a:xfrm>
            <a:off x="6263640" y="3154680"/>
            <a:ext cx="539496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seed per configuration; repeated runs vary by ≈0.3–1 pt → only large effects are conclusive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EuroSAT NAS ground truth = a 5-epoch training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ImageNet16 scored with substitute images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Live demo (NB7)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 load any checkpoint, classify an image, change lr / activation / loss / augmentation and retrain in seconds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figur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48640"/>
            <a:ext cx="1280160" cy="128930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033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Notebooks NB0–NB7 · 50 checkpoints · report and figures generated from the saved results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Emilio Yared  ·  Joe Missisian  —  Group 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DE500 EuroSAT">
  <a:themeElements>
    <a:clrScheme name="AIDE500 EuroSAT">
      <a:dk1>
        <a:srgbClr val="1F2A24"/>
      </a:dk1>
      <a:lt1>
        <a:srgbClr val="FFFFFF"/>
      </a:lt1>
      <a:dk2>
        <a:srgbClr val="13613F"/>
      </a:dk2>
      <a:lt2>
        <a:srgbClr val="EEF4F0"/>
      </a:lt2>
      <a:accent1>
        <a:srgbClr val="13613F"/>
      </a:accent1>
      <a:accent2>
        <a:srgbClr val="E0352B"/>
      </a:accent2>
      <a:accent3>
        <a:srgbClr val="5E8C6A"/>
      </a:accent3>
      <a:accent4>
        <a:srgbClr val="8C9A92"/>
      </a:accent4>
      <a:accent5>
        <a:srgbClr val="2F6F8F"/>
      </a:accent5>
      <a:accent6>
        <a:srgbClr val="C9A227"/>
      </a:accent6>
      <a:hlink>
        <a:srgbClr val="2F6F8F"/>
      </a:hlink>
      <a:folHlink>
        <a:srgbClr val="5E8C6A"/>
      </a:folHlink>
    </a:clrScheme>
    <a:fontScheme name="AIDE500 EuroS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Hand-Tuning to Architecture Search</dc:title>
  <dc:subject>PptxGenJS Presentation</dc:subject>
  <dc:creator>Emilio Yared, Joe Missisian</dc:creator>
  <cp:lastModifiedBy>Emilio Yared, Joe Missisian</cp:lastModifiedBy>
  <cp:revision>1</cp:revision>
  <dcterms:created xsi:type="dcterms:W3CDTF">2026-10-13T05:20:37Z</dcterms:created>
  <dcterms:modified xsi:type="dcterms:W3CDTF">2026-10-13T05:20:37Z</dcterms:modified>
</cp:coreProperties>
</file>